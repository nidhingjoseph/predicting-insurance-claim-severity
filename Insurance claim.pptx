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</p:sldIdLst>
  <p:sldSz cx="9144000" cy="5143500" type="screen16x9"/>
  <p:notesSz cx="6858000" cy="9144000"/>
  <p:embeddedFontLst>
    <p:embeddedFont>
      <p:font typeface="Corbel" panose="020B050302020402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4AE7FF0-DC00-422B-8FCE-2230781D2826}">
  <a:tblStyle styleId="{B4AE7FF0-DC00-422B-8FCE-2230781D282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6B45492-41D9-4A02-B1CC-275043D7942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1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 dirty="0"/>
              <a:t>Severity </a:t>
            </a:r>
            <a:r>
              <a:rPr lang="en-IN" dirty="0" err="1"/>
              <a:t>modeling</a:t>
            </a:r>
            <a:r>
              <a:rPr lang="en-IN" dirty="0"/>
              <a:t> helps insurers decide </a:t>
            </a:r>
            <a:r>
              <a:rPr lang="en-IN" i="1" dirty="0"/>
              <a:t>how much risk they are actually carrying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 dirty="0"/>
              <a:t>“These constraints mirror real-world situations where DS must work with imperfect data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79CD538D-5ED9-90F2-6D99-F7F254680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>
            <a:extLst>
              <a:ext uri="{FF2B5EF4-FFF2-40B4-BE49-F238E27FC236}">
                <a16:creationId xmlns:a16="http://schemas.microsoft.com/office/drawing/2014/main" id="{F7D9EC74-BC7B-0392-290E-17DCA82F0C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>
            <a:extLst>
              <a:ext uri="{FF2B5EF4-FFF2-40B4-BE49-F238E27FC236}">
                <a16:creationId xmlns:a16="http://schemas.microsoft.com/office/drawing/2014/main" id="{1A8D0E15-EC17-48A8-A4D7-031A7C7901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 dirty="0"/>
              <a:t>In insurance data, extreme claims are signal not noise.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505420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IN" dirty="0"/>
              <a:t>Due to dataset artifacts, R² was inflated — so I focused on error </a:t>
            </a:r>
            <a:r>
              <a:rPr lang="en-IN" dirty="0" err="1"/>
              <a:t>behavior</a:t>
            </a:r>
            <a:r>
              <a:rPr lang="en-IN" dirty="0"/>
              <a:t> instead.</a:t>
            </a:r>
          </a:p>
        </p:txBody>
      </p:sp>
    </p:spTree>
    <p:extLst>
      <p:ext uri="{BB962C8B-B14F-4D97-AF65-F5344CB8AC3E}">
        <p14:creationId xmlns:p14="http://schemas.microsoft.com/office/powerpoint/2010/main" val="2002957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IN" dirty="0"/>
              <a:t>The value is not the prediction , it’s the action it enables.”</a:t>
            </a:r>
          </a:p>
        </p:txBody>
      </p:sp>
    </p:spTree>
    <p:extLst>
      <p:ext uri="{BB962C8B-B14F-4D97-AF65-F5344CB8AC3E}">
        <p14:creationId xmlns:p14="http://schemas.microsoft.com/office/powerpoint/2010/main" val="4202499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Font typeface="Corbe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8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 sz="9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 sz="9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 sz="9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 sz="9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 sz="9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 sz="9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 sz="9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 sz="9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 sz="9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840000" y="1369219"/>
            <a:ext cx="767535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ctrTitle"/>
          </p:nvPr>
        </p:nvSpPr>
        <p:spPr>
          <a:xfrm>
            <a:off x="640899" y="3348021"/>
            <a:ext cx="6858000" cy="1231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7200"/>
              <a:buFont typeface="Corbel"/>
              <a:buNone/>
              <a:defRPr sz="7200" b="0">
                <a:solidFill>
                  <a:srgbClr val="E2E2E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1"/>
          </p:nvPr>
        </p:nvSpPr>
        <p:spPr>
          <a:xfrm>
            <a:off x="640899" y="2770256"/>
            <a:ext cx="6858000" cy="565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 b="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840000" y="1369219"/>
            <a:ext cx="3768912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739880" y="1369219"/>
            <a:ext cx="377547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840000" y="1260872"/>
            <a:ext cx="3768912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840000" y="1878806"/>
            <a:ext cx="3768912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739880" y="1260872"/>
            <a:ext cx="377666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739880" y="1878806"/>
            <a:ext cx="377666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400"/>
              <a:buFont typeface="Corbe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840000" y="1543050"/>
            <a:ext cx="2739019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400"/>
              <a:buFont typeface="Corbe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840000" y="1543050"/>
            <a:ext cx="2739019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629841" y="3275370"/>
            <a:ext cx="7886700" cy="61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400"/>
              <a:buFont typeface="Corbe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>
            <a:spLocks noGrp="1"/>
          </p:cNvSpPr>
          <p:nvPr>
            <p:ph type="pic" idx="2"/>
          </p:nvPr>
        </p:nvSpPr>
        <p:spPr>
          <a:xfrm>
            <a:off x="629841" y="740569"/>
            <a:ext cx="7886700" cy="2534801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2"/>
          <p:cNvSpPr txBox="1">
            <a:spLocks noGrp="1"/>
          </p:cNvSpPr>
          <p:nvPr>
            <p:ph type="body" idx="1"/>
          </p:nvPr>
        </p:nvSpPr>
        <p:spPr>
          <a:xfrm>
            <a:off x="629841" y="3889887"/>
            <a:ext cx="7885509" cy="51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2650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400"/>
              <a:buFont typeface="Corbe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body" idx="1"/>
          </p:nvPr>
        </p:nvSpPr>
        <p:spPr>
          <a:xfrm>
            <a:off x="629841" y="3367049"/>
            <a:ext cx="7885509" cy="1126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DEDED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title"/>
          </p:nvPr>
        </p:nvSpPr>
        <p:spPr>
          <a:xfrm>
            <a:off x="1084659" y="273844"/>
            <a:ext cx="6977064" cy="2244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3300"/>
              <a:buFont typeface="Corbel"/>
              <a:buNone/>
              <a:defRPr sz="3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body" idx="1"/>
          </p:nvPr>
        </p:nvSpPr>
        <p:spPr>
          <a:xfrm>
            <a:off x="1290484" y="2524168"/>
            <a:ext cx="6564224" cy="41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DEDED"/>
              </a:buClr>
              <a:buSzPts val="1050"/>
              <a:buNone/>
              <a:defRPr sz="105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body" idx="2"/>
          </p:nvPr>
        </p:nvSpPr>
        <p:spPr>
          <a:xfrm>
            <a:off x="628650" y="3376297"/>
            <a:ext cx="7884318" cy="1117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DEDED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833283" y="590118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orbel"/>
              <a:buNone/>
            </a:pPr>
            <a:r>
              <a:rPr lang="en" sz="60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7828359" y="2057400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orbel"/>
              <a:buNone/>
            </a:pPr>
            <a:r>
              <a:rPr lang="en" sz="60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title"/>
          </p:nvPr>
        </p:nvSpPr>
        <p:spPr>
          <a:xfrm>
            <a:off x="629841" y="1745226"/>
            <a:ext cx="7886700" cy="1883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4050"/>
              <a:buFont typeface="Corbel"/>
              <a:buNone/>
              <a:defRPr sz="40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body" idx="1"/>
          </p:nvPr>
        </p:nvSpPr>
        <p:spPr>
          <a:xfrm>
            <a:off x="629841" y="3637936"/>
            <a:ext cx="7885509" cy="855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DEDED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body" idx="1"/>
          </p:nvPr>
        </p:nvSpPr>
        <p:spPr>
          <a:xfrm>
            <a:off x="1002961" y="1414462"/>
            <a:ext cx="2210150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2"/>
          </p:nvPr>
        </p:nvSpPr>
        <p:spPr>
          <a:xfrm>
            <a:off x="1017598" y="1928812"/>
            <a:ext cx="2195513" cy="2692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DEDED"/>
              </a:buClr>
              <a:buSzPts val="1050"/>
              <a:buNone/>
              <a:defRPr sz="105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750"/>
              <a:buNone/>
              <a:defRPr sz="75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675"/>
              <a:buNone/>
              <a:defRPr sz="675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675"/>
              <a:buNone/>
              <a:defRPr sz="675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675"/>
              <a:buNone/>
              <a:defRPr sz="675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675"/>
              <a:buNone/>
              <a:defRPr sz="675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675"/>
              <a:buNone/>
              <a:defRPr sz="675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3"/>
          </p:nvPr>
        </p:nvSpPr>
        <p:spPr>
          <a:xfrm>
            <a:off x="3440996" y="1414462"/>
            <a:ext cx="2202181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4"/>
          </p:nvPr>
        </p:nvSpPr>
        <p:spPr>
          <a:xfrm>
            <a:off x="3433081" y="1928812"/>
            <a:ext cx="2210096" cy="2692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DEDED"/>
              </a:buClr>
              <a:buSzPts val="1050"/>
              <a:buNone/>
              <a:defRPr sz="105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750"/>
              <a:buNone/>
              <a:defRPr sz="75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675"/>
              <a:buNone/>
              <a:defRPr sz="675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675"/>
              <a:buNone/>
              <a:defRPr sz="675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675"/>
              <a:buNone/>
              <a:defRPr sz="675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675"/>
              <a:buNone/>
              <a:defRPr sz="675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675"/>
              <a:buNone/>
              <a:defRPr sz="675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body" idx="5"/>
          </p:nvPr>
        </p:nvSpPr>
        <p:spPr>
          <a:xfrm>
            <a:off x="5871777" y="1414462"/>
            <a:ext cx="2199085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body" idx="6"/>
          </p:nvPr>
        </p:nvSpPr>
        <p:spPr>
          <a:xfrm>
            <a:off x="5871777" y="1928812"/>
            <a:ext cx="2199085" cy="2692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DEDED"/>
              </a:buClr>
              <a:buSzPts val="1050"/>
              <a:buNone/>
              <a:defRPr sz="105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750"/>
              <a:buNone/>
              <a:defRPr sz="75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675"/>
              <a:buNone/>
              <a:defRPr sz="675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675"/>
              <a:buNone/>
              <a:defRPr sz="675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675"/>
              <a:buNone/>
              <a:defRPr sz="675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675"/>
              <a:buNone/>
              <a:defRPr sz="675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675"/>
              <a:buNone/>
              <a:defRPr sz="675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body" idx="1"/>
          </p:nvPr>
        </p:nvSpPr>
        <p:spPr>
          <a:xfrm>
            <a:off x="999064" y="3223127"/>
            <a:ext cx="2205038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DEDED"/>
              </a:buClr>
              <a:buSzPts val="1800"/>
              <a:buNone/>
              <a:defRPr sz="1800" b="0">
                <a:solidFill>
                  <a:srgbClr val="EDEDED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4" name="Google Shape;114;p17"/>
          <p:cNvSpPr>
            <a:spLocks noGrp="1"/>
          </p:cNvSpPr>
          <p:nvPr>
            <p:ph type="pic" idx="2"/>
          </p:nvPr>
        </p:nvSpPr>
        <p:spPr>
          <a:xfrm>
            <a:off x="999064" y="1692266"/>
            <a:ext cx="2205038" cy="1143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115" name="Google Shape;115;p17"/>
          <p:cNvSpPr txBox="1">
            <a:spLocks noGrp="1"/>
          </p:cNvSpPr>
          <p:nvPr>
            <p:ph type="body" idx="3"/>
          </p:nvPr>
        </p:nvSpPr>
        <p:spPr>
          <a:xfrm>
            <a:off x="999064" y="3655324"/>
            <a:ext cx="2205038" cy="49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DEDED"/>
              </a:buClr>
              <a:buSzPts val="1050"/>
              <a:buNone/>
              <a:defRPr sz="105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750"/>
              <a:buNone/>
              <a:defRPr sz="75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675"/>
              <a:buNone/>
              <a:defRPr sz="675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675"/>
              <a:buNone/>
              <a:defRPr sz="675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675"/>
              <a:buNone/>
              <a:defRPr sz="675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675"/>
              <a:buNone/>
              <a:defRPr sz="675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675"/>
              <a:buNone/>
              <a:defRPr sz="675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116" name="Google Shape;116;p17"/>
          <p:cNvSpPr txBox="1">
            <a:spLocks noGrp="1"/>
          </p:cNvSpPr>
          <p:nvPr>
            <p:ph type="body" idx="4"/>
          </p:nvPr>
        </p:nvSpPr>
        <p:spPr>
          <a:xfrm>
            <a:off x="3426748" y="3223127"/>
            <a:ext cx="2197894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DEDED"/>
              </a:buClr>
              <a:buSzPts val="1800"/>
              <a:buNone/>
              <a:defRPr sz="1800" b="0">
                <a:solidFill>
                  <a:srgbClr val="EDEDED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7" name="Google Shape;117;p17"/>
          <p:cNvSpPr>
            <a:spLocks noGrp="1"/>
          </p:cNvSpPr>
          <p:nvPr>
            <p:ph type="pic" idx="5"/>
          </p:nvPr>
        </p:nvSpPr>
        <p:spPr>
          <a:xfrm>
            <a:off x="3426747" y="1692266"/>
            <a:ext cx="2197894" cy="1143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118" name="Google Shape;118;p17"/>
          <p:cNvSpPr txBox="1">
            <a:spLocks noGrp="1"/>
          </p:cNvSpPr>
          <p:nvPr>
            <p:ph type="body" idx="6"/>
          </p:nvPr>
        </p:nvSpPr>
        <p:spPr>
          <a:xfrm>
            <a:off x="3425733" y="3655323"/>
            <a:ext cx="2200805" cy="49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DEDED"/>
              </a:buClr>
              <a:buSzPts val="1050"/>
              <a:buNone/>
              <a:defRPr sz="105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750"/>
              <a:buNone/>
              <a:defRPr sz="75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675"/>
              <a:buNone/>
              <a:defRPr sz="675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675"/>
              <a:buNone/>
              <a:defRPr sz="675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675"/>
              <a:buNone/>
              <a:defRPr sz="675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675"/>
              <a:buNone/>
              <a:defRPr sz="675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675"/>
              <a:buNone/>
              <a:defRPr sz="675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119" name="Google Shape;119;p17"/>
          <p:cNvSpPr txBox="1">
            <a:spLocks noGrp="1"/>
          </p:cNvSpPr>
          <p:nvPr>
            <p:ph type="body" idx="7"/>
          </p:nvPr>
        </p:nvSpPr>
        <p:spPr>
          <a:xfrm>
            <a:off x="5853242" y="3223127"/>
            <a:ext cx="2199085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DEDED"/>
              </a:buClr>
              <a:buSzPts val="1800"/>
              <a:buNone/>
              <a:defRPr sz="1800" b="0">
                <a:solidFill>
                  <a:srgbClr val="EDEDED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20" name="Google Shape;120;p17"/>
          <p:cNvSpPr>
            <a:spLocks noGrp="1"/>
          </p:cNvSpPr>
          <p:nvPr>
            <p:ph type="pic" idx="8"/>
          </p:nvPr>
        </p:nvSpPr>
        <p:spPr>
          <a:xfrm>
            <a:off x="5853241" y="1692266"/>
            <a:ext cx="2199085" cy="1143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121" name="Google Shape;121;p17"/>
          <p:cNvSpPr txBox="1">
            <a:spLocks noGrp="1"/>
          </p:cNvSpPr>
          <p:nvPr>
            <p:ph type="body" idx="9"/>
          </p:nvPr>
        </p:nvSpPr>
        <p:spPr>
          <a:xfrm>
            <a:off x="5853148" y="3655322"/>
            <a:ext cx="2201998" cy="49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DEDED"/>
              </a:buClr>
              <a:buSzPts val="1050"/>
              <a:buNone/>
              <a:defRPr sz="105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750"/>
              <a:buNone/>
              <a:defRPr sz="75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675"/>
              <a:buNone/>
              <a:defRPr sz="675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675"/>
              <a:buNone/>
              <a:defRPr sz="675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675"/>
              <a:buNone/>
              <a:defRPr sz="675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675"/>
              <a:buNone/>
              <a:defRPr sz="675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675"/>
              <a:buNone/>
              <a:defRPr sz="675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122" name="Google Shape;122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8"/>
          <p:cNvSpPr txBox="1">
            <a:spLocks noGrp="1"/>
          </p:cNvSpPr>
          <p:nvPr>
            <p:ph type="body" idx="1"/>
          </p:nvPr>
        </p:nvSpPr>
        <p:spPr>
          <a:xfrm rot="5400000">
            <a:off x="3045923" y="-836704"/>
            <a:ext cx="3263504" cy="767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9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4050"/>
              <a:buFont typeface="Corbel"/>
              <a:buNone/>
              <a:defRPr sz="405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40000" y="1369219"/>
            <a:ext cx="767535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DEDED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 sz="9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 sz="9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 sz="9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 sz="9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 sz="9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 sz="9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 sz="9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 sz="9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900"/>
              <a:buFont typeface="Corbel"/>
              <a:buNone/>
              <a:defRPr sz="9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/>
        </p:nvSpPr>
        <p:spPr>
          <a:xfrm>
            <a:off x="311700" y="256775"/>
            <a:ext cx="8520600" cy="862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65268"/>
              <a:buFont typeface="Corbel"/>
              <a:buNone/>
            </a:pPr>
            <a:r>
              <a:rPr lang="en" sz="4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Predicting Insurance Claim Severity</a:t>
            </a:r>
            <a:endParaRPr/>
          </a:p>
        </p:txBody>
      </p:sp>
      <p:sp>
        <p:nvSpPr>
          <p:cNvPr id="142" name="Google Shape;142;p20"/>
          <p:cNvSpPr txBox="1"/>
          <p:nvPr/>
        </p:nvSpPr>
        <p:spPr>
          <a:xfrm>
            <a:off x="1024759" y="2170703"/>
            <a:ext cx="6858000" cy="971081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lvl="0" algn="ctr">
              <a:lnSpc>
                <a:spcPct val="120000"/>
              </a:lnSpc>
              <a:buClr>
                <a:srgbClr val="EDEDED"/>
              </a:buClr>
              <a:buSzPts val="1800"/>
            </a:pPr>
            <a:r>
              <a:rPr lang="en" sz="2100" b="0" i="0" u="none" strike="noStrike" cap="none" dirty="0">
                <a:solidFill>
                  <a:srgbClr val="EDEDE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Risk-Based Insurance Claim Severity Modelling for Pricing &amp; Underwriting Decisions</a:t>
            </a:r>
            <a:endParaRPr sz="9600" b="0" i="0" u="none" strike="noStrike" cap="none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43" name="Google Shape;143;p20"/>
          <p:cNvSpPr txBox="1"/>
          <p:nvPr/>
        </p:nvSpPr>
        <p:spPr>
          <a:xfrm>
            <a:off x="4678557" y="3761501"/>
            <a:ext cx="4153743" cy="1235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Regression &amp; Classification on Insurance Claims Data</a:t>
            </a:r>
          </a:p>
          <a:p>
            <a:pPr lvl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" sz="1400" b="1" i="0" u="none" strike="noStrike" cap="none" dirty="0">
                <a:solidFill>
                  <a:schemeClr val="bg1"/>
                </a:solidFill>
                <a:latin typeface="Times New Roman" panose="02020603050405020304" pitchFamily="18" charset="0"/>
                <a:ea typeface="Corbel"/>
                <a:cs typeface="Times New Roman" panose="02020603050405020304" pitchFamily="18" charset="0"/>
                <a:sym typeface="Corbel"/>
              </a:rPr>
              <a:t>Presented by:</a:t>
            </a:r>
            <a:r>
              <a:rPr lang="en" sz="1400" b="0" i="0" u="none" strike="noStrike" cap="none" dirty="0">
                <a:solidFill>
                  <a:schemeClr val="bg1"/>
                </a:solidFill>
                <a:latin typeface="Times New Roman" panose="02020603050405020304" pitchFamily="18" charset="0"/>
                <a:ea typeface="Corbel"/>
                <a:cs typeface="Times New Roman" panose="02020603050405020304" pitchFamily="18" charset="0"/>
                <a:sym typeface="Corbel"/>
              </a:rPr>
              <a:t>   Nidhin George Joseph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IN" dirty="0"/>
              <a:t>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Science</a:t>
            </a:r>
            <a:endParaRPr sz="1400" b="0" i="0" u="none" strike="noStrike" cap="none" dirty="0">
              <a:solidFill>
                <a:schemeClr val="bg1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>
            <a:spLocks noGrp="1"/>
          </p:cNvSpPr>
          <p:nvPr>
            <p:ph type="title"/>
          </p:nvPr>
        </p:nvSpPr>
        <p:spPr>
          <a:xfrm>
            <a:off x="311700" y="340376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Claim Severity Matters in Insurance</a:t>
            </a:r>
            <a:endParaRPr sz="365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C4A75-4CA3-BF43-0CAF-F08B9D8BB8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98585" y="1989141"/>
            <a:ext cx="837027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Insurance risk is driven not just by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whether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claim occurs, but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costly it is</a:t>
            </a:r>
            <a:endParaRPr lang="en-US" altLang="en-US" sz="18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 claims disproportionately impact: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pricing accuracy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reserve adequacy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loss ratios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scientists support these decisions by estimating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claim severity under uncertainty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>
              <a:buSzPct val="76817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</a:t>
            </a:r>
            <a:endParaRPr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55" name="Google Shape;155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29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</a:t>
            </a:r>
            <a:r>
              <a:rPr lang="en-IN" sz="2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insurance claim severity (claim amount)</a:t>
            </a:r>
            <a:r>
              <a:rPr lang="en-I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reported claims</a:t>
            </a:r>
          </a:p>
          <a:p>
            <a:pPr marL="114300" indent="0">
              <a:buNone/>
            </a:pPr>
            <a:endParaRPr lang="en-IN" sz="2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 policies into </a:t>
            </a:r>
            <a:r>
              <a:rPr lang="en-IN" sz="2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bands</a:t>
            </a:r>
            <a:r>
              <a:rPr lang="en-I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support:</a:t>
            </a:r>
          </a:p>
          <a:p>
            <a:pPr lvl="1"/>
            <a:r>
              <a:rPr lang="en-I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pricing adjustments</a:t>
            </a:r>
          </a:p>
          <a:p>
            <a:pPr lvl="1"/>
            <a:r>
              <a:rPr lang="en-I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underwriting review</a:t>
            </a:r>
          </a:p>
          <a:p>
            <a:pPr lvl="1"/>
            <a:r>
              <a:rPr lang="en-I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high-severity claim prioritisation</a:t>
            </a:r>
          </a:p>
          <a:p>
            <a:pPr marL="596900" lvl="1" indent="0">
              <a:buNone/>
            </a:pPr>
            <a:endParaRPr lang="en-IN" sz="2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96900" lvl="1" indent="0">
              <a:buNone/>
            </a:pPr>
            <a:endParaRPr lang="en-IN" sz="2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Explicit assumption:</a:t>
            </a:r>
            <a:br>
              <a:rPr lang="en-I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Claim occurrence is already known → focus is </a:t>
            </a:r>
            <a:r>
              <a:rPr lang="en-IN" sz="2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severity</a:t>
            </a:r>
            <a:r>
              <a:rPr lang="en-I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not frequency.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>
              <a:buSzPct val="76817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 &amp; Practical Constraints</a:t>
            </a:r>
            <a:endParaRPr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A6A5C-A59B-92F3-D8AC-C34974F362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1150" y="1946841"/>
            <a:ext cx="830387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 insurance claims dataset (Kaggle) used as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proxy for real-world data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Structured customer, policy, and claim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constraints: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highly skewed claim amounts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external risk indicators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temporal validation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95ED8F06-6242-0A28-9F0A-0C7A5E06B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>
            <a:extLst>
              <a:ext uri="{FF2B5EF4-FFF2-40B4-BE49-F238E27FC236}">
                <a16:creationId xmlns:a16="http://schemas.microsoft.com/office/drawing/2014/main" id="{9F008922-66A4-B9F4-6795-94433C407F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>
              <a:buSzPct val="76817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Severity Is Hard to Model</a:t>
            </a:r>
            <a:endParaRPr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2F4F3-29A6-5784-5AC7-D095700E83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602254"/>
            <a:ext cx="843124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257300" lvl="2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Claim amounts are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heavy-tailed and noisy</a:t>
            </a:r>
          </a:p>
          <a:p>
            <a:pPr marL="1257300" lvl="2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Extreme claims are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financially critical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not errors</a:t>
            </a:r>
          </a:p>
          <a:p>
            <a:pPr marL="1257300" lvl="2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Naive trimming may simplify modelling, but can remove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valuable risk signal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462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0BBC7-528A-C3FA-FB03-DCD30309E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Severity Modelling: Regression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23ADA2-C773-DF77-C44F-B1BD618E4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I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Compared:</a:t>
            </a:r>
          </a:p>
          <a:p>
            <a:pPr lvl="1"/>
            <a:r>
              <a:rPr lang="en-I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non-trimmed data</a:t>
            </a:r>
          </a:p>
          <a:p>
            <a:pPr lvl="1"/>
            <a:r>
              <a:rPr lang="en-I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trimmed data (&lt;16,000)</a:t>
            </a:r>
          </a:p>
          <a:p>
            <a:pPr lvl="1"/>
            <a:r>
              <a:rPr lang="en-I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transformed targets</a:t>
            </a:r>
          </a:p>
          <a:p>
            <a:r>
              <a:rPr lang="en-I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Observed:</a:t>
            </a:r>
          </a:p>
          <a:p>
            <a:pPr lvl="1"/>
            <a:r>
              <a:rPr lang="en-I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trimming reduced skewness</a:t>
            </a:r>
          </a:p>
          <a:p>
            <a:pPr lvl="1"/>
            <a:r>
              <a:rPr lang="en-I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lang="en-IN" sz="2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did not improve decision-relevant accuracy</a:t>
            </a:r>
            <a:endParaRPr lang="en-IN" sz="2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metrics revealed loss of important high-severity information</a:t>
            </a:r>
          </a:p>
        </p:txBody>
      </p:sp>
    </p:spTree>
    <p:extLst>
      <p:ext uri="{BB962C8B-B14F-4D97-AF65-F5344CB8AC3E}">
        <p14:creationId xmlns:p14="http://schemas.microsoft.com/office/powerpoint/2010/main" val="3927593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7C4DE-C080-3B9F-670A-B25F1CB80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Non-Linear Models: What Worked &amp; What Didn’t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1B683B-18F6-47AC-ACF2-BF13FFB82B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Random Forest and </a:t>
            </a:r>
            <a:r>
              <a:rPr lang="en-IN" sz="20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capture non-linear effects</a:t>
            </a:r>
          </a:p>
          <a:p>
            <a:r>
              <a:rPr lang="en-I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</a:p>
          <a:p>
            <a:pPr lvl="1"/>
            <a:r>
              <a:rPr lang="en-I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modest performance</a:t>
            </a:r>
          </a:p>
          <a:p>
            <a:pPr lvl="1"/>
            <a:r>
              <a:rPr lang="en-I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instability under extreme claim variability</a:t>
            </a:r>
          </a:p>
          <a:p>
            <a:pPr marL="571500" lvl="1" indent="0">
              <a:buNone/>
            </a:pPr>
            <a:endParaRPr lang="en-IN" sz="2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pPr lvl="1"/>
            <a:r>
              <a:rPr lang="en-I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limitations reflect </a:t>
            </a:r>
            <a:r>
              <a:rPr lang="en-IN" sz="2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inherent uncertainty in insurance severity</a:t>
            </a:r>
            <a:r>
              <a:rPr lang="en-I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not just algorithm choice</a:t>
            </a:r>
          </a:p>
        </p:txBody>
      </p:sp>
    </p:spTree>
    <p:extLst>
      <p:ext uri="{BB962C8B-B14F-4D97-AF65-F5344CB8AC3E}">
        <p14:creationId xmlns:p14="http://schemas.microsoft.com/office/powerpoint/2010/main" val="3041042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61551-6A31-CB1B-594B-FBD612FE9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Incident Severity Classification for High-Impact Claims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53F75D-D222-AE15-1CBA-A8058CC666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40000" y="1431310"/>
            <a:ext cx="767535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Classified claims into: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Trivial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Minor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Major Damage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Loss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priority: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Minimise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false negatives for high-severity claims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Applied class-weighted learning: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recall for major damage cases (~7%)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alignment with financial risk exposure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074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ADDE1-64C4-0ABC-9F5A-6593C7612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Translating Predictions into Business Actions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D010B4-C54D-F556-C135-47A917F335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281075"/>
              </p:ext>
            </p:extLst>
          </p:nvPr>
        </p:nvGraphicFramePr>
        <p:xfrm>
          <a:off x="839788" y="2284889"/>
          <a:ext cx="7675563" cy="1737360"/>
        </p:xfrm>
        <a:graphic>
          <a:graphicData uri="http://schemas.openxmlformats.org/drawingml/2006/table">
            <a:tbl>
              <a:tblPr/>
              <a:tblGrid>
                <a:gridCol w="2558521">
                  <a:extLst>
                    <a:ext uri="{9D8B030D-6E8A-4147-A177-3AD203B41FA5}">
                      <a16:colId xmlns:a16="http://schemas.microsoft.com/office/drawing/2014/main" val="2489007335"/>
                    </a:ext>
                  </a:extLst>
                </a:gridCol>
                <a:gridCol w="2558521">
                  <a:extLst>
                    <a:ext uri="{9D8B030D-6E8A-4147-A177-3AD203B41FA5}">
                      <a16:colId xmlns:a16="http://schemas.microsoft.com/office/drawing/2014/main" val="1295473198"/>
                    </a:ext>
                  </a:extLst>
                </a:gridCol>
                <a:gridCol w="2558521">
                  <a:extLst>
                    <a:ext uri="{9D8B030D-6E8A-4147-A177-3AD203B41FA5}">
                      <a16:colId xmlns:a16="http://schemas.microsoft.com/office/drawing/2014/main" val="334222236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Segment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Business Interpretation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Suggested 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29159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 expected claims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 pricing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41655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 severity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review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580624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expected claims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Premium loading / fraud checks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282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0321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1DC11-89F1-0AC5-8738-FC3291BED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Value Delivered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FC855-FF87-D60A-135C-2D592B20B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risk-based pricing decisions</a:t>
            </a:r>
          </a:p>
          <a:p>
            <a:r>
              <a:rPr lang="en-I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underwriting prioritisation</a:t>
            </a:r>
          </a:p>
          <a:p>
            <a:r>
              <a:rPr lang="en-I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 focus on financially critical claims</a:t>
            </a:r>
          </a:p>
          <a:p>
            <a:r>
              <a:rPr lang="en-I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operational blind spots caused by average-based modelling</a:t>
            </a:r>
          </a:p>
          <a:p>
            <a:pPr marL="114300" indent="0">
              <a:buNone/>
            </a:pPr>
            <a:endParaRPr lang="en-IN" sz="2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“Improved identification of high-severity risk segments”</a:t>
            </a:r>
          </a:p>
          <a:p>
            <a:r>
              <a:rPr lang="en-I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“Reduced false negatives in critical claim classes”</a:t>
            </a:r>
          </a:p>
        </p:txBody>
      </p:sp>
    </p:spTree>
    <p:extLst>
      <p:ext uri="{BB962C8B-B14F-4D97-AF65-F5344CB8AC3E}">
        <p14:creationId xmlns:p14="http://schemas.microsoft.com/office/powerpoint/2010/main" val="251313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1BB6E-65FA-C89F-D0A9-37E48F1F6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&amp; Future Enhancements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8FB655-7FAE-D368-684C-4089D832C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000" y="1369218"/>
            <a:ext cx="7675350" cy="3679519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IN" sz="1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r>
              <a:rPr lang="en-IN" sz="1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dataset lacks a full underwriting context</a:t>
            </a:r>
          </a:p>
          <a:p>
            <a:r>
              <a:rPr lang="en-IN" sz="1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frequency-severity integration</a:t>
            </a:r>
          </a:p>
          <a:p>
            <a:r>
              <a:rPr lang="en-IN" sz="1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external risk variables</a:t>
            </a:r>
          </a:p>
          <a:p>
            <a:pPr marL="114300" indent="0">
              <a:buNone/>
            </a:pPr>
            <a:endParaRPr lang="en-IN" sz="18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1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steps:</a:t>
            </a:r>
            <a:endParaRPr lang="en-IN" sz="18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Joint frequency-severity modelling</a:t>
            </a:r>
          </a:p>
          <a:p>
            <a:r>
              <a:rPr lang="en-IN" sz="1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Cost-sensitive optimisation</a:t>
            </a:r>
          </a:p>
          <a:p>
            <a:r>
              <a:rPr lang="en-IN" sz="1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 with actuarial teams</a:t>
            </a:r>
          </a:p>
          <a:p>
            <a:r>
              <a:rPr lang="en-IN" sz="1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 risk enrichment</a:t>
            </a:r>
          </a:p>
        </p:txBody>
      </p:sp>
    </p:spTree>
    <p:extLst>
      <p:ext uri="{BB962C8B-B14F-4D97-AF65-F5344CB8AC3E}">
        <p14:creationId xmlns:p14="http://schemas.microsoft.com/office/powerpoint/2010/main" val="1204292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53C4-E8A5-A08C-104C-F26416540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CDAA75-C2A8-5C82-D97A-DA061D0C4F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39861" y="2195429"/>
            <a:ext cx="772839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Insurance severity modelling is as much about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 understanding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 prediction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Effective data science translates uncertainty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 business decisions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312105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rgbClr val="000000"/>
      </a:dk1>
      <a:lt1>
        <a:srgbClr val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514</Words>
  <Application>Microsoft Office PowerPoint</Application>
  <PresentationFormat>On-screen Show (16:9)</PresentationFormat>
  <Paragraphs>103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Times New Roman</vt:lpstr>
      <vt:lpstr>Arial</vt:lpstr>
      <vt:lpstr>Corbel</vt:lpstr>
      <vt:lpstr>Depth</vt:lpstr>
      <vt:lpstr>PowerPoint Presentation</vt:lpstr>
      <vt:lpstr>Why Claim Severity Matters in Insurance</vt:lpstr>
      <vt:lpstr>Problem Statement &amp; Objective</vt:lpstr>
      <vt:lpstr>Data Overview &amp; Practical Constraints</vt:lpstr>
      <vt:lpstr>Why Severity Is Hard to Model</vt:lpstr>
      <vt:lpstr>Severity Modelling: Regression Insights</vt:lpstr>
      <vt:lpstr>Non-Linear Models: What Worked &amp; What Didn’t</vt:lpstr>
      <vt:lpstr>Incident Severity Classification for High-Impact Claims</vt:lpstr>
      <vt:lpstr>Translating Predictions into Business Actions</vt:lpstr>
      <vt:lpstr>Business Value Delivered</vt:lpstr>
      <vt:lpstr>Limitations &amp; Future Enhancements</vt:lpstr>
      <vt:lpstr>Key Takeaway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Nidhin Joseph</dc:creator>
  <cp:lastModifiedBy>Nidhin Joseph</cp:lastModifiedBy>
  <cp:revision>1</cp:revision>
  <dcterms:modified xsi:type="dcterms:W3CDTF">2026-01-22T17:58:43Z</dcterms:modified>
</cp:coreProperties>
</file>